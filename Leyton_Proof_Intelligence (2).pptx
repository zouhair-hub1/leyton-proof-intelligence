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fafda3a-a539-3403-1946-277da703f2ab}">
          <p14:sldIdLst>
            <p14:sldId id="256"/>
          </p14:sldIdLst>
        </p14:section>
        <p14:section name="Contexte" id="{07007e66-77c1-7598-e83e-02f6c377c209}">
          <p14:sldIdLst>
            <p14:sldId id="257"/>
            <p14:sldId id="258"/>
            <p14:sldId id="259"/>
            <p14:sldId id="260"/>
            <p14:sldId id="261"/>
          </p14:sldIdLst>
        </p14:section>
        <p14:section name="Solution" id="{c60a6192-0e4f-70cc-80e2-e72e5c112f47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Mise en œuvre" id="{4c543288-26b7-48b1-200f-f4bf3d812965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+mn-lt"/>
              </a:rPr>
              <a:t>Délai de traitement (jours)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Délai de traitement (jours)</c:v>
                </c:pt>
              </c:strCache>
            </c:strRef>
          </c:tx>
          <c:spPr>
            <a:solidFill>
              <a:srgbClr val="6C7A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7A9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6FE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Équipes classiques</c:v>
                  </c:pt>
                  <c:pt idx="1">
                    <c:v>Équipes performantes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17.4</c:v>
                </c:pt>
                <c:pt idx="1">
                  <c:v>3.1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+mn-lt"/>
              </a:rPr>
              <a:t>Coût par facture traitée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par facture traitée ($)</c:v>
                </c:pt>
              </c:strCache>
            </c:strRef>
          </c:tx>
          <c:spPr>
            <a:solidFill>
              <a:srgbClr val="6C7A92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7A9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6FE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Équipes classiques</c:v>
                  </c:pt>
                  <c:pt idx="1">
                    <c:v>Équipes performantes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12.88</c:v>
                </c:pt>
                <c:pt idx="1">
                  <c:v>2.78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4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direct (€)</c:v>
                </c:pt>
              </c:strCache>
            </c:strRef>
          </c:tx>
          <c:spPr>
            <a:solidFill>
              <a:srgbClr val="6C7A92"/>
            </a:solidFill>
            <a:effectLst/>
          </c:spPr>
          <c:invertIfNegative val="0"/>
          <c:dLbls>
            <c:numFmt formatCode="0&quot; €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7A9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6FE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Aujourd'hui (12 h × 50 €)</c:v>
                  </c:pt>
                  <c:pt idx="1">
                    <c:v>Avec plateforme (7 h × 50 €)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600</c:v>
                </c:pt>
                <c:pt idx="1">
                  <c:v>350</c:v>
                </c:pt>
              </c:numCache>
            </c:numRef>
          </c:val>
        </c:ser>
        <c:dLbls>
          <c:numFmt formatCode="0&quot; €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projet Leyton : plateforme intelligente de collecte et d'analyse documentaire pour les dossiers CIR/CII.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CIR/CII : dispositifs fiscaux liés à la R&amp;D et à l'innovation. Leyton doit collecter et vérifier beaucoup de justificatifs, aujourd'hui par e-mail.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Temps, coût, et surtout cohérence : un dossier complet n'est pas forcément cohérent.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Sujet 1 : dropzone + validation IA. Livrer un prototype en 5 jours.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Repères issus du traitement de factures (Ardent Partners 2024). Ce n'est pas une mesure des dossiers CIR de Leyton.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purement illustratif : 12 h à 50 €/h = 600 € ; 7 h = 350 €, soit -41,7 %. À remplacer par les données réelles de Leyton.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(janvier à septembre) : collecte continue. Phase 2 (dès le 1er septembre) : analyse. Axes 4 et 5 = innovation centrale. Axe 2 = nouveau.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Répond directement à la demande initiale de Leyton.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 lieu d'un dépôt unique qui crée des oublis, la plateforme notifie le client à chaque pièce 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: collecte continue jusqu'au 1er septembre. Phase 2 : classement, détection des pièces manquantes (limite 10/09), puis analyse.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Étapes 2 à 4. Chaque donnée extraite garde sa source (page, zone).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Innovation centrale n°1 : on ne lit pas seulement les documents, on reconstitue l'histoire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Innovation centrale n°2 : détecter une contradiction qui n'apparaît dans aucun document pris isolément.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 contradictrice : elle cherche les objections qu'un examinateur pourrait soulever.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indicateurs permettent de vérifier objectivement le gain de temps et de coût.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 de boîte noire : chaque décision affiche son niveau de confiance et sa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briques, un pipeline simplifié de bout en bout, démontré sur un dossier synthétique avec anomalies volontaires.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final : de la collecte à la compréhension et à l'éprouvé des preuves, avec le consultant qui décide.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Leyton Proof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7373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Leyton Proof Intelligence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731520" y="370332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Plateforme intelligente de collecte et d'analyse documentaire pour le CIR / CII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Projet d'innovation · Sujet 1 · École Centrale Casablanca</a:t>
            </a:r>
            <a:endParaRPr lang="en-US" sz="1400" dirty="0"/>
          </a:p>
        </p:txBody>
      </p:sp>
      <p:sp>
        <p:nvSpPr>
          <p:cNvPr id="6" name="lien"/>
          <p:cNvSpPr/>
          <p:nvPr/>
        </p:nvSpPr>
        <p:spPr>
          <a:xfrm>
            <a:off x="8869680" y="1828800"/>
            <a:ext cx="2011680" cy="6400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lien"/>
          <p:cNvSpPr/>
          <p:nvPr/>
        </p:nvSpPr>
        <p:spPr>
          <a:xfrm>
            <a:off x="8869680" y="1828800"/>
            <a:ext cx="800100" cy="18973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lien"/>
          <p:cNvSpPr/>
          <p:nvPr/>
        </p:nvSpPr>
        <p:spPr>
          <a:xfrm flipV="1">
            <a:off x="9669780" y="2468880"/>
            <a:ext cx="1211580" cy="12573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lien"/>
          <p:cNvSpPr/>
          <p:nvPr/>
        </p:nvSpPr>
        <p:spPr>
          <a:xfrm>
            <a:off x="9669780" y="3726180"/>
            <a:ext cx="1623060" cy="8915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0" name="lien"/>
          <p:cNvSpPr/>
          <p:nvPr/>
        </p:nvSpPr>
        <p:spPr>
          <a:xfrm flipV="1">
            <a:off x="8526780" y="3726180"/>
            <a:ext cx="1143000" cy="14173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lien"/>
          <p:cNvSpPr/>
          <p:nvPr/>
        </p:nvSpPr>
        <p:spPr>
          <a:xfrm flipV="1">
            <a:off x="10469880" y="4617720"/>
            <a:ext cx="822960" cy="11887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2" name="lien"/>
          <p:cNvSpPr/>
          <p:nvPr/>
        </p:nvSpPr>
        <p:spPr>
          <a:xfrm>
            <a:off x="8526780" y="5143500"/>
            <a:ext cx="1943100" cy="6629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lien"/>
          <p:cNvSpPr/>
          <p:nvPr/>
        </p:nvSpPr>
        <p:spPr>
          <a:xfrm>
            <a:off x="9669780" y="3726180"/>
            <a:ext cx="800100" cy="20802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4" name="nœud"/>
          <p:cNvSpPr/>
          <p:nvPr/>
        </p:nvSpPr>
        <p:spPr>
          <a:xfrm>
            <a:off x="8503920" y="1463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œud"/>
          <p:cNvSpPr/>
          <p:nvPr/>
        </p:nvSpPr>
        <p:spPr>
          <a:xfrm>
            <a:off x="10607040" y="2194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œud"/>
          <p:cNvSpPr/>
          <p:nvPr/>
        </p:nvSpPr>
        <p:spPr>
          <a:xfrm>
            <a:off x="9235440" y="32918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0" descr="ale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2610" y="3509010"/>
            <a:ext cx="434340" cy="434340"/>
          </a:xfrm>
          <a:prstGeom prst="rect">
            <a:avLst/>
          </a:prstGeom>
        </p:spPr>
      </p:pic>
      <p:sp>
        <p:nvSpPr>
          <p:cNvPr id="18" name="nœud"/>
          <p:cNvSpPr/>
          <p:nvPr/>
        </p:nvSpPr>
        <p:spPr>
          <a:xfrm>
            <a:off x="10972800" y="4297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œud"/>
          <p:cNvSpPr/>
          <p:nvPr/>
        </p:nvSpPr>
        <p:spPr>
          <a:xfrm>
            <a:off x="8229600" y="4846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œud"/>
          <p:cNvSpPr/>
          <p:nvPr/>
        </p:nvSpPr>
        <p:spPr>
          <a:xfrm>
            <a:off x="10241280" y="5577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 processus de collecte encore manuel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 CIR et le CII sont des dispositifs fiscaux qui permettent aux entreprises de bénéficier d'un avantage lié à leurs activités de R&amp;D ou d'innovation.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889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Pour chaque dossier, Leyton doit collecter, classer, analyser et vérifier un volume important de justificatifs, puis recontacter le client dès qu'une information manque ou diverge.</a:t>
            </a:r>
            <a:endParaRPr lang="en-US" sz="1800" dirty="0"/>
          </a:p>
        </p:txBody>
      </p:sp>
      <p:sp>
        <p:nvSpPr>
          <p:cNvPr id="6" name="carte"/>
          <p:cNvSpPr/>
          <p:nvPr/>
        </p:nvSpPr>
        <p:spPr>
          <a:xfrm>
            <a:off x="6263640" y="1371600"/>
            <a:ext cx="26060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badge"/>
          <p:cNvSpPr/>
          <p:nvPr/>
        </p:nvSpPr>
        <p:spPr>
          <a:xfrm>
            <a:off x="644652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icô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91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4652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Factures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4652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Sous-traitance, fournisseurs</a:t>
            </a:r>
            <a:endParaRPr lang="en-US" sz="1200" dirty="0"/>
          </a:p>
        </p:txBody>
      </p:sp>
      <p:sp>
        <p:nvSpPr>
          <p:cNvPr id="11" name="carte"/>
          <p:cNvSpPr/>
          <p:nvPr/>
        </p:nvSpPr>
        <p:spPr>
          <a:xfrm>
            <a:off x="9006840" y="1371600"/>
            <a:ext cx="26060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918972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icô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6916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18972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Fiches de paie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918972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Personnel affecté au projet</a:t>
            </a:r>
            <a:endParaRPr lang="en-US" sz="1200" dirty="0"/>
          </a:p>
        </p:txBody>
      </p:sp>
      <p:sp>
        <p:nvSpPr>
          <p:cNvPr id="16" name="carte"/>
          <p:cNvSpPr/>
          <p:nvPr/>
        </p:nvSpPr>
        <p:spPr>
          <a:xfrm>
            <a:off x="6263640" y="2971800"/>
            <a:ext cx="26060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446520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icô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2918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465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 de réunions R&amp;D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44652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Travaux et avancées</a:t>
            </a:r>
            <a:endParaRPr lang="en-US" sz="1200" dirty="0"/>
          </a:p>
        </p:txBody>
      </p:sp>
      <p:sp>
        <p:nvSpPr>
          <p:cNvPr id="21" name="carte"/>
          <p:cNvSpPr/>
          <p:nvPr/>
        </p:nvSpPr>
        <p:spPr>
          <a:xfrm>
            <a:off x="9006840" y="2971800"/>
            <a:ext cx="26060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9189720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icô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329184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897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Contrats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918972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Périodes et prestations</a:t>
            </a:r>
            <a:endParaRPr lang="en-US" sz="1200" dirty="0"/>
          </a:p>
        </p:txBody>
      </p:sp>
      <p:sp>
        <p:nvSpPr>
          <p:cNvPr id="26" name="bandeau"/>
          <p:cNvSpPr/>
          <p:nvPr/>
        </p:nvSpPr>
        <p:spPr>
          <a:xfrm>
            <a:off x="548640" y="4754880"/>
            <a:ext cx="1110996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82296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AUJOURD'HUI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Échanges par e-mail, relances manuelles, pièces mal nommées ou incomplètes… et aucune visibilité en temps réel sur les pièces manquantes ou incorrectes.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Trois problèmes, une problématique</a:t>
            </a:r>
            <a:endParaRPr lang="en-US" sz="3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352044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ô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Temps de traitement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9718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consultants font des tâches administratives répétitives au lieu d'analyser les travaux. Chaque relance retarde la finalisation.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4343400" y="1371600"/>
            <a:ext cx="352044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461772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icô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830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772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Coût opérationnel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617720" y="29718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Plus un dossier demande d'heures, plus il coûte cher. À effectif constant, moins de dossiers peuvent être pris en charge.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8138160" y="1371600"/>
            <a:ext cx="352044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"/>
          <p:cNvSpPr/>
          <p:nvPr/>
        </p:nvSpPr>
        <p:spPr>
          <a:xfrm>
            <a:off x="8412480" y="1600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icô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7830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1248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Complétude ≠ cohérence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412480" y="29718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dossier peut contenir toutes les pièces et pourtant se contredire : montants, périodes, personnes, travaux décrits.</a:t>
            </a:r>
            <a:endParaRPr lang="en-US" sz="1400" dirty="0"/>
          </a:p>
        </p:txBody>
      </p:sp>
      <p:sp>
        <p:nvSpPr>
          <p:cNvPr id="19" name="bandeau"/>
          <p:cNvSpPr/>
          <p:nvPr/>
        </p:nvSpPr>
        <p:spPr>
          <a:xfrm>
            <a:off x="548640" y="4709160"/>
            <a:ext cx="11109960" cy="1508760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2296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PROBLÉMATIQUE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" y="5166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Comment concevoir une plateforme intelligente qui automatise la collecte et l'analyse des documents CIR/CII, réduit délais et coûts, détecte tôt les incohérences et guide le client vers des dossiers complets, cohérents et défendables 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cahier des charges Leyton</a:t>
            </a:r>
            <a:endParaRPr lang="en-US" sz="3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Objectifs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Une dropzone unique pour tous les documents du client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Analyse IA : extraction, classification, conformité, pièces manquantes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Information du client en temps réel, relance automatique</a:t>
            </a:r>
            <a:endParaRPr lang="en-US" sz="1400" dirty="0"/>
          </a:p>
        </p:txBody>
      </p:sp>
      <p:sp>
        <p:nvSpPr>
          <p:cNvPr id="7" name="carte"/>
          <p:cNvSpPr/>
          <p:nvPr/>
        </p:nvSpPr>
        <p:spPr>
          <a:xfrm>
            <a:off x="6217920" y="1371600"/>
            <a:ext cx="544068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Périmètre technique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01168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Front-end : dropzone + statut de complétude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Workflow : manquant / en attente / validé / rejeté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IA : classification + validation (règles + inférence)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Relance : message listant les pièces à fournir</a:t>
            </a:r>
            <a:endParaRPr lang="en-US" sz="1400" dirty="0"/>
          </a:p>
        </p:txBody>
      </p:sp>
      <p:sp>
        <p:nvSpPr>
          <p:cNvPr id="10" name="carte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Livrables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Prototype : dropzone, pipeline extraction/validation, tableau de statut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Documentation de la logique (règles vs inférence IA)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Démo sur documents anonymisés ou synthétiques</a:t>
            </a:r>
            <a:endParaRPr lang="en-US" sz="1400" dirty="0"/>
          </a:p>
        </p:txBody>
      </p:sp>
      <p:sp>
        <p:nvSpPr>
          <p:cNvPr id="13" name="carte"/>
          <p:cNvSpPr/>
          <p:nvPr/>
        </p:nvSpPr>
        <p:spPr>
          <a:xfrm>
            <a:off x="6217920" y="3840480"/>
            <a:ext cx="5440680" cy="22860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Points de vigilance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448056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Scope large pour 5 jours : un pipeline de bout en bout simplifié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Confidentialité : données anonymisées/synthétiques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Faux positifs/négatifs : confiance et traçabilité, pas de boîte noire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temps de traitement : un enjeu mesurable</a:t>
            </a:r>
            <a:endParaRPr lang="en-US" sz="3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3977640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−82 %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508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 délai par facture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2423160"/>
          <a:ext cx="5074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te"/>
          <p:cNvSpPr/>
          <p:nvPr/>
        </p:nvSpPr>
        <p:spPr>
          <a:xfrm>
            <a:off x="6217920" y="1371600"/>
            <a:ext cx="5440680" cy="3977640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92240" y="1508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−78 %</a:t>
            </a:r>
            <a:endParaRPr lang="en-US" sz="4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0" y="1508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 coût par facture</a:t>
            </a:r>
            <a:endParaRPr lang="en-US" sz="16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400800" y="2423160"/>
          <a:ext cx="5074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48640" y="557784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Source : Ardent Partners, The State of ePayables 2024 (Bottomline). Repères sur le traitement de factures, pas sur les dossiers CIR/CII de Leyton ; l'écart ne peut pas être attribué à la seule automatisation.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Du temps gagné au coût économisé</a:t>
            </a:r>
            <a:endParaRPr lang="en-US" sz="3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3949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buNone/>
            </a:pPr>
            <a:r>
              <a:rPr lang="en-US" sz="3200" b="1" baseline="-4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dossier</a:t>
            </a:r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T</a:t>
            </a:r>
            <a:pPr indent="0" marL="0">
              <a:buNone/>
            </a:pPr>
            <a:r>
              <a:rPr lang="en-US" sz="3200" b="1" baseline="-4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</a:t>
            </a:r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C</a:t>
            </a:r>
            <a:pPr indent="0" marL="0">
              <a:buNone/>
            </a:pPr>
            <a:r>
              <a:rPr lang="en-US" sz="3200" b="1" baseline="-4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horaire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423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 = temps cumulé passé sur le dossier ; C = coût horaire complet des ressources mobilisées.</a:t>
            </a:r>
            <a:endParaRPr lang="en-US" sz="1400" dirty="0"/>
          </a:p>
        </p:txBody>
      </p:sp>
      <p:sp>
        <p:nvSpPr>
          <p:cNvPr id="7" name="carte"/>
          <p:cNvSpPr/>
          <p:nvPr/>
        </p:nvSpPr>
        <p:spPr>
          <a:xfrm>
            <a:off x="548640" y="3520440"/>
            <a:ext cx="53949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Coûts indirects à réduire aussi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690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Échanges répétés avec les clients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Plusieurs consultants sur un même dossier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Corrections tardives et retards</a:t>
            </a:r>
            <a:endParaRPr lang="en-US" sz="1400" dirty="0"/>
          </a:p>
        </p:txBody>
      </p:sp>
      <p:sp>
        <p:nvSpPr>
          <p:cNvPr id="10" name="carte"/>
          <p:cNvSpPr/>
          <p:nvPr/>
        </p:nvSpPr>
        <p:spPr>
          <a:xfrm>
            <a:off x="6263640" y="1371600"/>
            <a:ext cx="539496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1508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−41,7 %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1508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coût direct (exemple illustratif)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46520" y="242316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bandeau"/>
          <p:cNvSpPr/>
          <p:nvPr/>
        </p:nvSpPr>
        <p:spPr>
          <a:xfrm>
            <a:off x="548640" y="5532120"/>
            <a:ext cx="1110996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McKinsey (2023) : l'IA générative pourrait automatiser des activités représentant 60 à 70 % du temps de travail, un potentiel technique et non une prévision pour le CIR.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Notre solution : sept axes complémentaires</a:t>
            </a:r>
            <a:endParaRPr lang="en-US" sz="3200" dirty="0"/>
          </a:p>
        </p:txBody>
      </p:sp>
      <p:sp>
        <p:nvSpPr>
          <p:cNvPr id="4" name="carte"/>
          <p:cNvSpPr/>
          <p:nvPr/>
        </p:nvSpPr>
        <p:spPr>
          <a:xfrm>
            <a:off x="548640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ô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5270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AXE 1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41732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Phase 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Collecte intelligente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807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Dropzone, checklist et statuts en temps réel</a:t>
            </a:r>
            <a:endParaRPr lang="en-US" sz="1400" dirty="0"/>
          </a:p>
        </p:txBody>
      </p:sp>
      <p:sp>
        <p:nvSpPr>
          <p:cNvPr id="11" name="carte"/>
          <p:cNvSpPr/>
          <p:nvPr/>
        </p:nvSpPr>
        <p:spPr>
          <a:xfrm>
            <a:off x="3367735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3550615" y="1508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1" descr="icô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775" y="16459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36415" y="15270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AXE 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236415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Phase 1</a:t>
            </a:r>
            <a:endParaRPr lang="en-US" sz="1200" dirty="0"/>
          </a:p>
        </p:txBody>
      </p:sp>
      <p:sp>
        <p:nvSpPr>
          <p:cNvPr id="16" name="pastille"/>
          <p:cNvSpPr/>
          <p:nvPr/>
        </p:nvSpPr>
        <p:spPr>
          <a:xfrm>
            <a:off x="5059375" y="1435608"/>
            <a:ext cx="868680" cy="237744"/>
          </a:xfrm>
          <a:prstGeom prst="roundRect">
            <a:avLst>
              <a:gd name="adj" fmla="val 6538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059375" y="143560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NOUVEAU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3550615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Suivi par notifications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3550615" y="2807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 relance à chaque pièce due, de janvier à septembre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86830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badge"/>
          <p:cNvSpPr/>
          <p:nvPr/>
        </p:nvSpPr>
        <p:spPr>
          <a:xfrm>
            <a:off x="636971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2" descr="icô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0" y="164592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55510" y="15270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AXE 3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05551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Phase 2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36971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Lecture et contrôle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369710" y="2807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Classement, OCR, extraction et intégrité</a:t>
            </a:r>
            <a:endParaRPr lang="en-US" sz="1400" dirty="0"/>
          </a:p>
        </p:txBody>
      </p:sp>
      <p:sp>
        <p:nvSpPr>
          <p:cNvPr id="27" name="carte"/>
          <p:cNvSpPr/>
          <p:nvPr/>
        </p:nvSpPr>
        <p:spPr>
          <a:xfrm>
            <a:off x="9005926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adge"/>
          <p:cNvSpPr/>
          <p:nvPr/>
        </p:nvSpPr>
        <p:spPr>
          <a:xfrm>
            <a:off x="9188806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mage 3" descr="icô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966" y="164592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74606" y="15270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AXE 4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874606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Phase 2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188806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Jumeau temporel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9188806" y="2807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L'histoire chronologique du projet</a:t>
            </a:r>
            <a:endParaRPr lang="en-US" sz="1400" dirty="0"/>
          </a:p>
        </p:txBody>
      </p:sp>
      <p:sp>
        <p:nvSpPr>
          <p:cNvPr id="34" name="carte"/>
          <p:cNvSpPr/>
          <p:nvPr/>
        </p:nvSpPr>
        <p:spPr>
          <a:xfrm>
            <a:off x="548640" y="365760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badge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6" name="Image 4" descr="icô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7764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417320" y="3858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AXE 5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1417320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Phase 2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731520" y="4572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Graphe de cohérence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731520" y="51389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Relier les preuves entre documents</a:t>
            </a:r>
            <a:endParaRPr lang="en-US" sz="1400" dirty="0"/>
          </a:p>
        </p:txBody>
      </p:sp>
      <p:sp>
        <p:nvSpPr>
          <p:cNvPr id="41" name="carte"/>
          <p:cNvSpPr/>
          <p:nvPr/>
        </p:nvSpPr>
        <p:spPr>
          <a:xfrm>
            <a:off x="3367735" y="365760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badge"/>
          <p:cNvSpPr/>
          <p:nvPr/>
        </p:nvSpPr>
        <p:spPr>
          <a:xfrm>
            <a:off x="3550615" y="3840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3" name="Image 5" descr="icô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7775" y="3977640"/>
            <a:ext cx="274320" cy="27432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4236415" y="3858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AXE 6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4236415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Phase 2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3550615" y="4572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Pré-audit IA</a:t>
            </a:r>
            <a:endParaRPr lang="en-US" sz="1600" dirty="0"/>
          </a:p>
        </p:txBody>
      </p:sp>
      <p:sp>
        <p:nvSpPr>
          <p:cNvPr id="47" name="Text 38"/>
          <p:cNvSpPr txBox="1"/>
          <p:nvPr/>
        </p:nvSpPr>
        <p:spPr>
          <a:xfrm>
            <a:off x="3550615" y="51389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IA contradictrice et demandes ciblées</a:t>
            </a:r>
            <a:endParaRPr lang="en-US" sz="1400" dirty="0"/>
          </a:p>
        </p:txBody>
      </p:sp>
      <p:sp>
        <p:nvSpPr>
          <p:cNvPr id="48" name="carte"/>
          <p:cNvSpPr/>
          <p:nvPr/>
        </p:nvSpPr>
        <p:spPr>
          <a:xfrm>
            <a:off x="6186830" y="365760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badge"/>
          <p:cNvSpPr/>
          <p:nvPr/>
        </p:nvSpPr>
        <p:spPr>
          <a:xfrm>
            <a:off x="6369710" y="3840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0" name="Image 6" descr="icôn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6870" y="3977640"/>
            <a:ext cx="274320" cy="274320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7055510" y="3858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AXE 7</a:t>
            </a:r>
            <a:endParaRPr lang="en-US" sz="1200" dirty="0"/>
          </a:p>
        </p:txBody>
      </p:sp>
      <p:sp>
        <p:nvSpPr>
          <p:cNvPr id="52" name="Text 42"/>
          <p:cNvSpPr txBox="1"/>
          <p:nvPr/>
        </p:nvSpPr>
        <p:spPr>
          <a:xfrm>
            <a:off x="7055510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Phases 1 et 2</a:t>
            </a:r>
            <a:endParaRPr lang="en-US" sz="1200" dirty="0"/>
          </a:p>
        </p:txBody>
      </p:sp>
      <p:sp>
        <p:nvSpPr>
          <p:cNvPr id="53" name="Text 43"/>
          <p:cNvSpPr txBox="1"/>
          <p:nvPr/>
        </p:nvSpPr>
        <p:spPr>
          <a:xfrm>
            <a:off x="6369710" y="4572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Pilotage</a:t>
            </a:r>
            <a:endParaRPr lang="en-US" sz="1600" dirty="0"/>
          </a:p>
        </p:txBody>
      </p:sp>
      <p:sp>
        <p:nvSpPr>
          <p:cNvPr id="54" name="Text 44"/>
          <p:cNvSpPr txBox="1"/>
          <p:nvPr/>
        </p:nvSpPr>
        <p:spPr>
          <a:xfrm>
            <a:off x="6369710" y="51389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Tableau de bord et indicateurs</a:t>
            </a:r>
            <a:endParaRPr lang="en-US" sz="1400" dirty="0"/>
          </a:p>
        </p:txBody>
      </p:sp>
      <p:sp>
        <p:nvSpPr>
          <p:cNvPr id="55" name="bandeau"/>
          <p:cNvSpPr/>
          <p:nvPr/>
        </p:nvSpPr>
        <p:spPr>
          <a:xfrm>
            <a:off x="9005926" y="365760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9234526" y="38404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PHASE 1 · JANV. → SEPT.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Collecte continue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PHASE 2 · DÈS LE 1ER SEPT.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Analyse complète</a:t>
            </a:r>
            <a:endParaRPr lang="en-US" sz="1200" dirty="0"/>
          </a:p>
        </p:txBody>
      </p:sp>
      <p:sp>
        <p:nvSpPr>
          <p:cNvPr id="57" name="Text 47"/>
          <p:cNvSpPr txBox="1"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Les axes 4 et 5 communiquent en permanence : leurs résultats alimentent ensemble le pré-audit.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Axe 1 · Collecte intelligente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point d'entrée unique et sécurisé : plus d'e-mails dispersés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Statut de chaque document : reçu, en cours d'analyse, validé, à corriger ou manquant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Comparaison automatique avec une checklist adaptée au dossier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Détection précise d'une absence (ex. feuille de temps de février) et demande ciblée au client</a:t>
            </a:r>
            <a:endParaRPr lang="en-US" sz="1600" dirty="0"/>
          </a:p>
        </p:txBody>
      </p:sp>
      <p:sp>
        <p:nvSpPr>
          <p:cNvPr id="5" name="bandeau"/>
          <p:cNvSpPr/>
          <p:nvPr/>
        </p:nvSpPr>
        <p:spPr>
          <a:xfrm>
            <a:off x="548640" y="4846320"/>
            <a:ext cx="5486400" cy="1280160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8463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Objectif Leyton : centraliser la collecte, automatiser les relances, offrir une visibilité temps réel.</a:t>
            </a:r>
            <a:endParaRPr lang="en-US" sz="1600" dirty="0"/>
          </a:p>
        </p:txBody>
      </p:sp>
      <p:sp>
        <p:nvSpPr>
          <p:cNvPr id="7" name="carte"/>
          <p:cNvSpPr/>
          <p:nvPr/>
        </p:nvSpPr>
        <p:spPr>
          <a:xfrm>
            <a:off x="6400800" y="1371600"/>
            <a:ext cx="5257800" cy="4754880"/>
          </a:xfrm>
          <a:prstGeom prst="roundRect">
            <a:avLst>
              <a:gd name="adj" fmla="val 192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Exemple de tableau de statut</a:t>
            </a:r>
            <a:endParaRPr lang="en-US" sz="1200" dirty="0"/>
          </a:p>
        </p:txBody>
      </p:sp>
      <p:sp>
        <p:nvSpPr>
          <p:cNvPr id="9" name="zone de dépôt"/>
          <p:cNvSpPr/>
          <p:nvPr/>
        </p:nvSpPr>
        <p:spPr>
          <a:xfrm>
            <a:off x="6675120" y="1828800"/>
            <a:ext cx="4709160" cy="105156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6675120" y="18288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Glissez-déposez vos documents ici</a:t>
            </a:r>
            <a:endParaRPr lang="en-US" sz="1500" dirty="0"/>
          </a:p>
        </p:txBody>
      </p:sp>
      <p:sp>
        <p:nvSpPr>
          <p:cNvPr id="11" name="ligne"/>
          <p:cNvSpPr/>
          <p:nvPr/>
        </p:nvSpPr>
        <p:spPr>
          <a:xfrm>
            <a:off x="6675120" y="3063240"/>
            <a:ext cx="470916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306324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Fiche de paie · janvier</a:t>
            </a:r>
            <a:endParaRPr lang="en-US" sz="1400" dirty="0"/>
          </a:p>
        </p:txBody>
      </p:sp>
      <p:sp>
        <p:nvSpPr>
          <p:cNvPr id="13" name="pastille"/>
          <p:cNvSpPr/>
          <p:nvPr/>
        </p:nvSpPr>
        <p:spPr>
          <a:xfrm>
            <a:off x="9738360" y="3154680"/>
            <a:ext cx="150876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738360" y="315468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validé</a:t>
            </a:r>
            <a:endParaRPr lang="en-US" sz="1100" dirty="0"/>
          </a:p>
        </p:txBody>
      </p:sp>
      <p:sp>
        <p:nvSpPr>
          <p:cNvPr id="15" name="ligne"/>
          <p:cNvSpPr/>
          <p:nvPr/>
        </p:nvSpPr>
        <p:spPr>
          <a:xfrm>
            <a:off x="6675120" y="3666744"/>
            <a:ext cx="470916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0" y="366674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Fiche de paie · février</a:t>
            </a:r>
            <a:endParaRPr lang="en-US" sz="1400" dirty="0"/>
          </a:p>
        </p:txBody>
      </p:sp>
      <p:sp>
        <p:nvSpPr>
          <p:cNvPr id="17" name="pastille"/>
          <p:cNvSpPr/>
          <p:nvPr/>
        </p:nvSpPr>
        <p:spPr>
          <a:xfrm>
            <a:off x="9738360" y="3758184"/>
            <a:ext cx="150876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38360" y="3758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validé</a:t>
            </a:r>
            <a:endParaRPr lang="en-US" sz="1100" dirty="0"/>
          </a:p>
        </p:txBody>
      </p:sp>
      <p:sp>
        <p:nvSpPr>
          <p:cNvPr id="19" name="ligne"/>
          <p:cNvSpPr/>
          <p:nvPr/>
        </p:nvSpPr>
        <p:spPr>
          <a:xfrm>
            <a:off x="6675120" y="4270248"/>
            <a:ext cx="470916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0" y="427024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Feuille de temps · février</a:t>
            </a:r>
            <a:endParaRPr lang="en-US" sz="1400" dirty="0"/>
          </a:p>
        </p:txBody>
      </p:sp>
      <p:sp>
        <p:nvSpPr>
          <p:cNvPr id="21" name="pastille"/>
          <p:cNvSpPr/>
          <p:nvPr/>
        </p:nvSpPr>
        <p:spPr>
          <a:xfrm>
            <a:off x="9738360" y="4361688"/>
            <a:ext cx="150876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43616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manquant</a:t>
            </a:r>
            <a:endParaRPr lang="en-US" sz="1100" dirty="0"/>
          </a:p>
        </p:txBody>
      </p:sp>
      <p:sp>
        <p:nvSpPr>
          <p:cNvPr id="23" name="ligne"/>
          <p:cNvSpPr/>
          <p:nvPr/>
        </p:nvSpPr>
        <p:spPr>
          <a:xfrm>
            <a:off x="6675120" y="4873752"/>
            <a:ext cx="470916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0" y="487375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Facture de sous-traitance</a:t>
            </a:r>
            <a:endParaRPr lang="en-US" sz="1400" dirty="0"/>
          </a:p>
        </p:txBody>
      </p:sp>
      <p:sp>
        <p:nvSpPr>
          <p:cNvPr id="25" name="pastille"/>
          <p:cNvSpPr/>
          <p:nvPr/>
        </p:nvSpPr>
        <p:spPr>
          <a:xfrm>
            <a:off x="9738360" y="4965192"/>
            <a:ext cx="150876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738360" y="49651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en cours d'analyse</a:t>
            </a:r>
            <a:endParaRPr lang="en-US" sz="1100" dirty="0"/>
          </a:p>
        </p:txBody>
      </p:sp>
      <p:sp>
        <p:nvSpPr>
          <p:cNvPr id="27" name="ligne"/>
          <p:cNvSpPr/>
          <p:nvPr/>
        </p:nvSpPr>
        <p:spPr>
          <a:xfrm>
            <a:off x="6675120" y="5477256"/>
            <a:ext cx="470916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0" y="547725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Contrat de prestation</a:t>
            </a:r>
            <a:endParaRPr lang="en-US" sz="1400" dirty="0"/>
          </a:p>
        </p:txBody>
      </p:sp>
      <p:sp>
        <p:nvSpPr>
          <p:cNvPr id="29" name="pastille"/>
          <p:cNvSpPr/>
          <p:nvPr/>
        </p:nvSpPr>
        <p:spPr>
          <a:xfrm>
            <a:off x="9738360" y="5568696"/>
            <a:ext cx="150876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556869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à corriger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Axe 2 · Suivi continu par notifications</a:t>
            </a:r>
            <a:endParaRPr lang="en-US" sz="3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icô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554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Pièces périodiques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286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Fiches de paie, feuilles de temps…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Une notification chaque mois, de janvier à septembre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Dépôt dès que la pièce est disponible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6217920" y="137160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icô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916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23760" y="1554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Pièces non périodiques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6492240" y="2286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Contrats, rapports techniques, autres justificatifs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Dépôt libre, à tout moment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À condition de respecter la date limite de septembre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Exemples de notifications envoyées au client</a:t>
            </a:r>
            <a:endParaRPr lang="en-US" sz="1200" dirty="0"/>
          </a:p>
        </p:txBody>
      </p:sp>
      <p:sp>
        <p:nvSpPr>
          <p:cNvPr id="15" name="carte"/>
          <p:cNvSpPr/>
          <p:nvPr/>
        </p:nvSpPr>
        <p:spPr>
          <a:xfrm>
            <a:off x="548640" y="4023360"/>
            <a:ext cx="35204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icô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433197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4224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DÉBUT DE MOIS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463040" y="4526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« Dépose ta fiche de paie de mai. »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4343400" y="4023360"/>
            <a:ext cx="35204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badge"/>
          <p:cNvSpPr/>
          <p:nvPr/>
        </p:nvSpPr>
        <p:spPr>
          <a:xfrm>
            <a:off x="4572000" y="4206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mage 3" descr="icô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730" y="433197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257800" y="4224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FIN DE MOIS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5257800" y="4526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« Pense à déposer ta feuille de temps de mai. »</a:t>
            </a:r>
            <a:endParaRPr lang="en-US" sz="1400" dirty="0"/>
          </a:p>
        </p:txBody>
      </p:sp>
      <p:sp>
        <p:nvSpPr>
          <p:cNvPr id="25" name="carte"/>
          <p:cNvSpPr/>
          <p:nvPr/>
        </p:nvSpPr>
        <p:spPr>
          <a:xfrm>
            <a:off x="8138160" y="4023360"/>
            <a:ext cx="35204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badge"/>
          <p:cNvSpPr/>
          <p:nvPr/>
        </p:nvSpPr>
        <p:spPr>
          <a:xfrm>
            <a:off x="8366760" y="4206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mage 4" descr="icô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490" y="4331970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052560" y="4224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RELANCE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9052560" y="4526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« Ta fiche de paie de mai n'a pas encore été déposée. »</a:t>
            </a:r>
            <a:endParaRPr lang="en-US" sz="1400" dirty="0"/>
          </a:p>
        </p:txBody>
      </p:sp>
      <p:sp>
        <p:nvSpPr>
          <p:cNvPr id="30" name="bandeau"/>
          <p:cNvSpPr/>
          <p:nvPr/>
        </p:nvSpPr>
        <p:spPr>
          <a:xfrm>
            <a:off x="548640" y="553212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822960" y="5532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Résultat : plus d'oublis, plus de dépôt massif de dernière minute, et un client qui sait toujours ce qui est attendu.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déroulé de la campagne : de janvier à la date limite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PHASE 1 · Collecte continue : une notification par mois pour chaque pièce périodique</a:t>
            </a:r>
            <a:endParaRPr lang="en-US" sz="1400" dirty="0"/>
          </a:p>
        </p:txBody>
      </p:sp>
      <p:sp>
        <p:nvSpPr>
          <p:cNvPr id="5" name="lien"/>
          <p:cNvSpPr/>
          <p:nvPr/>
        </p:nvSpPr>
        <p:spPr>
          <a:xfrm>
            <a:off x="822960" y="2103120"/>
            <a:ext cx="1051560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6" name="mois"/>
          <p:cNvSpPr/>
          <p:nvPr/>
        </p:nvSpPr>
        <p:spPr>
          <a:xfrm>
            <a:off x="941832" y="1947672"/>
            <a:ext cx="310896" cy="31089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Janv.</a:t>
            </a:r>
            <a:endParaRPr lang="en-US" sz="1400" dirty="0"/>
          </a:p>
        </p:txBody>
      </p:sp>
      <p:sp>
        <p:nvSpPr>
          <p:cNvPr id="8" name="mois"/>
          <p:cNvSpPr/>
          <p:nvPr/>
        </p:nvSpPr>
        <p:spPr>
          <a:xfrm>
            <a:off x="2185416" y="1947672"/>
            <a:ext cx="310896" cy="31089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83664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Févr.</a:t>
            </a:r>
            <a:endParaRPr lang="en-US" sz="1400" dirty="0"/>
          </a:p>
        </p:txBody>
      </p:sp>
      <p:sp>
        <p:nvSpPr>
          <p:cNvPr id="10" name="mois"/>
          <p:cNvSpPr/>
          <p:nvPr/>
        </p:nvSpPr>
        <p:spPr>
          <a:xfrm>
            <a:off x="3429000" y="1947672"/>
            <a:ext cx="310896" cy="31089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27248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Mars</a:t>
            </a:r>
            <a:endParaRPr lang="en-US" sz="1400" dirty="0"/>
          </a:p>
        </p:txBody>
      </p:sp>
      <p:sp>
        <p:nvSpPr>
          <p:cNvPr id="12" name="mois"/>
          <p:cNvSpPr/>
          <p:nvPr/>
        </p:nvSpPr>
        <p:spPr>
          <a:xfrm>
            <a:off x="4672584" y="1947672"/>
            <a:ext cx="310896" cy="31089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70832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Avr.</a:t>
            </a:r>
            <a:endParaRPr lang="en-US" sz="1400" dirty="0"/>
          </a:p>
        </p:txBody>
      </p:sp>
      <p:sp>
        <p:nvSpPr>
          <p:cNvPr id="14" name="mois"/>
          <p:cNvSpPr/>
          <p:nvPr/>
        </p:nvSpPr>
        <p:spPr>
          <a:xfrm>
            <a:off x="5916168" y="1947672"/>
            <a:ext cx="310896" cy="31089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14416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Mai</a:t>
            </a:r>
            <a:endParaRPr lang="en-US" sz="1400" dirty="0"/>
          </a:p>
        </p:txBody>
      </p:sp>
      <p:sp>
        <p:nvSpPr>
          <p:cNvPr id="16" name="mois"/>
          <p:cNvSpPr/>
          <p:nvPr/>
        </p:nvSpPr>
        <p:spPr>
          <a:xfrm>
            <a:off x="7159752" y="1947672"/>
            <a:ext cx="310896" cy="31089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Juin</a:t>
            </a:r>
            <a:endParaRPr lang="en-US" sz="1400" dirty="0"/>
          </a:p>
        </p:txBody>
      </p:sp>
      <p:sp>
        <p:nvSpPr>
          <p:cNvPr id="18" name="mois"/>
          <p:cNvSpPr/>
          <p:nvPr/>
        </p:nvSpPr>
        <p:spPr>
          <a:xfrm>
            <a:off x="8403336" y="1947672"/>
            <a:ext cx="310896" cy="31089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01584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Juil.</a:t>
            </a:r>
            <a:endParaRPr lang="en-US" sz="1400" dirty="0"/>
          </a:p>
        </p:txBody>
      </p:sp>
      <p:sp>
        <p:nvSpPr>
          <p:cNvPr id="20" name="mois"/>
          <p:cNvSpPr/>
          <p:nvPr/>
        </p:nvSpPr>
        <p:spPr>
          <a:xfrm>
            <a:off x="9646920" y="1947672"/>
            <a:ext cx="310896" cy="31089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45168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Août</a:t>
            </a:r>
            <a:endParaRPr lang="en-US" sz="1400" dirty="0"/>
          </a:p>
        </p:txBody>
      </p:sp>
      <p:sp>
        <p:nvSpPr>
          <p:cNvPr id="22" name="mois"/>
          <p:cNvSpPr/>
          <p:nvPr/>
        </p:nvSpPr>
        <p:spPr>
          <a:xfrm>
            <a:off x="10890504" y="1947672"/>
            <a:ext cx="310896" cy="31089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588752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Sept.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05256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1er sept. : date limite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PHASE 2 · Dès le 1er septembre</a:t>
            </a:r>
            <a:endParaRPr lang="en-US" sz="1400" dirty="0"/>
          </a:p>
        </p:txBody>
      </p:sp>
      <p:sp>
        <p:nvSpPr>
          <p:cNvPr id="26" name="phase"/>
          <p:cNvSpPr/>
          <p:nvPr/>
        </p:nvSpPr>
        <p:spPr>
          <a:xfrm>
            <a:off x="548640" y="3291840"/>
            <a:ext cx="3383280" cy="1965960"/>
          </a:xfrm>
          <a:prstGeom prst="roundRect">
            <a:avLst>
              <a:gd name="adj" fmla="val 465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 · Clôture et classement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39319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 système classe tous les fichiers déposés et compare avec la checklist.</a:t>
            </a:r>
            <a:endParaRPr lang="en-US" sz="1400" dirty="0"/>
          </a:p>
        </p:txBody>
      </p:sp>
      <p:sp>
        <p:nvSpPr>
          <p:cNvPr id="29" name="flèche"/>
          <p:cNvSpPr/>
          <p:nvPr/>
        </p:nvSpPr>
        <p:spPr>
          <a:xfrm>
            <a:off x="4005072" y="4114800"/>
            <a:ext cx="320040" cy="4114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phase"/>
          <p:cNvSpPr/>
          <p:nvPr/>
        </p:nvSpPr>
        <p:spPr>
          <a:xfrm>
            <a:off x="4389120" y="3291840"/>
            <a:ext cx="3383280" cy="1965960"/>
          </a:xfrm>
          <a:prstGeom prst="roundRect">
            <a:avLst>
              <a:gd name="adj" fmla="val 465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1772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 · Pièces manquantes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9319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« Tu as oublié de déposer le document X. Tu as jusqu'au 10/09 pour le déposer. »</a:t>
            </a:r>
            <a:endParaRPr lang="en-US" sz="1400" dirty="0"/>
          </a:p>
        </p:txBody>
      </p:sp>
      <p:sp>
        <p:nvSpPr>
          <p:cNvPr id="33" name="flèche"/>
          <p:cNvSpPr/>
          <p:nvPr/>
        </p:nvSpPr>
        <p:spPr>
          <a:xfrm>
            <a:off x="7845552" y="4114800"/>
            <a:ext cx="320040" cy="4114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phase"/>
          <p:cNvSpPr/>
          <p:nvPr/>
        </p:nvSpPr>
        <p:spPr>
          <a:xfrm>
            <a:off x="8229600" y="3291840"/>
            <a:ext cx="3383280" cy="1965960"/>
          </a:xfrm>
          <a:prstGeom prst="roundRect">
            <a:avLst>
              <a:gd name="adj" fmla="val 465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 · Analyse complète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8458200" y="39319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Lecture et contrôle, jumeau temporel, graphe de cohérence, pré-audit.</a:t>
            </a:r>
            <a:endParaRPr lang="en-US" sz="1400" dirty="0"/>
          </a:p>
        </p:txBody>
      </p:sp>
      <p:sp>
        <p:nvSpPr>
          <p:cNvPr id="37" name="bandeau"/>
          <p:cNvSpPr/>
          <p:nvPr/>
        </p:nvSpPr>
        <p:spPr>
          <a:xfrm>
            <a:off x="548640" y="5440680"/>
            <a:ext cx="111099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Les pièces non périodiques (contrats, rapports…) se déposent librement à tout moment, tant que la date limite est respectée.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Axe 3 · Lecture, contrôle et structuration</a:t>
            </a:r>
            <a:endParaRPr lang="en-US" sz="3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3520440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ô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145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Lire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42316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OCR et parsing PDF : natifs, scannés, tableaux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Classification du type de document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Extraction : dates, montants, noms, heures, fournisseur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Chaque donnée liée à sa page et à sa zone source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4343400" y="1371600"/>
            <a:ext cx="3520440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461772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icô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7145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Contrôler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4617720" y="242316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Intégrité : doublons, empreintes, signatures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Cohérence interne : totaux HT/TVA/TTC, calculs de paie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Indices de modification : polices, alignements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Sources fiables : ex. validité d'un agrément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8138160" y="1371600"/>
            <a:ext cx="3520440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"/>
          <p:cNvSpPr/>
          <p:nvPr/>
        </p:nvSpPr>
        <p:spPr>
          <a:xfrm>
            <a:off x="841248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icô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71450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3544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Structurer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8412480" y="242316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Entités : projet, salarié, fournisseur, contrat, facture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Dates typées : signature, début de prestation, émission, période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Évite les fausses alertes de comparaison de dates</a:t>
            </a:r>
            <a:endParaRPr lang="en-US" sz="1400" dirty="0"/>
          </a:p>
        </p:txBody>
      </p:sp>
      <p:sp>
        <p:nvSpPr>
          <p:cNvPr id="19" name="bandeau"/>
          <p:cNvSpPr/>
          <p:nvPr/>
        </p:nvSpPr>
        <p:spPr>
          <a:xfrm>
            <a:off x="548640" y="5212080"/>
            <a:ext cx="11109960" cy="960120"/>
          </a:xfrm>
          <a:prstGeom prst="roundRect">
            <a:avLst>
              <a:gd name="adj" fmla="val 95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22960" y="52120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Une anomalie n'est pas une falsification : la plateforme signale l'indice, explique son contrôle et demande une vérification humaine.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Axe 4 · Le jumeau temporel du dossier</a:t>
            </a:r>
            <a:endParaRPr lang="en-US" sz="3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Comment ça marche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Chronologie reconstruite à partir de tous les documents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Chaque événement lié aux personnes, dépenses, contrats et travaux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Vérification de compatibilité avec les périodes documentées</a:t>
            </a:r>
            <a:endParaRPr lang="en-US" sz="1400" dirty="0"/>
          </a:p>
        </p:txBody>
      </p:sp>
      <p:sp>
        <p:nvSpPr>
          <p:cNvPr id="7" name="carte"/>
          <p:cNvSpPr/>
          <p:nvPr/>
        </p:nvSpPr>
        <p:spPr>
          <a:xfrm>
            <a:off x="6217920" y="1371600"/>
            <a:ext cx="544068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508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Ce qu'il détecte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9659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Facture datée avant le début du contrat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Heures déclarées hors période justifiée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Réunion antérieure au démarrage déclaré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Agrément non valide sur la période de prestation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Exemple de chronologie reconstruite</a:t>
            </a:r>
            <a:endParaRPr lang="en-US" sz="1200" dirty="0"/>
          </a:p>
        </p:txBody>
      </p:sp>
      <p:sp>
        <p:nvSpPr>
          <p:cNvPr id="11" name="alerte"/>
          <p:cNvSpPr/>
          <p:nvPr/>
        </p:nvSpPr>
        <p:spPr>
          <a:xfrm>
            <a:off x="4023360" y="3749040"/>
            <a:ext cx="438912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alerte"/>
          <p:cNvSpPr/>
          <p:nvPr/>
        </p:nvSpPr>
        <p:spPr>
          <a:xfrm>
            <a:off x="4023360" y="3749040"/>
            <a:ext cx="438912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06240" y="3749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Écart temporel : facture antérieure au contrat. Prestation antérieure ? acompte ? contrat précédent ? erreur de date ?</a:t>
            </a:r>
            <a:endParaRPr lang="en-US" sz="1300" dirty="0"/>
          </a:p>
        </p:txBody>
      </p:sp>
      <p:sp>
        <p:nvSpPr>
          <p:cNvPr id="14" name="lien"/>
          <p:cNvSpPr/>
          <p:nvPr/>
        </p:nvSpPr>
        <p:spPr>
          <a:xfrm>
            <a:off x="6217920" y="4754880"/>
            <a:ext cx="0" cy="36576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5" name="lien"/>
          <p:cNvSpPr/>
          <p:nvPr/>
        </p:nvSpPr>
        <p:spPr>
          <a:xfrm>
            <a:off x="822960" y="5257800"/>
            <a:ext cx="1051560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16" name="événement"/>
          <p:cNvSpPr/>
          <p:nvPr/>
        </p:nvSpPr>
        <p:spPr>
          <a:xfrm>
            <a:off x="1508760" y="51206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5532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Démarrage déclaré du projet</a:t>
            </a:r>
            <a:endParaRPr lang="en-US" sz="1400" dirty="0"/>
          </a:p>
        </p:txBody>
      </p:sp>
      <p:sp>
        <p:nvSpPr>
          <p:cNvPr id="18" name="événement"/>
          <p:cNvSpPr/>
          <p:nvPr/>
        </p:nvSpPr>
        <p:spPr>
          <a:xfrm>
            <a:off x="3794760" y="51206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926080" y="5532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Réunion R&amp;D</a:t>
            </a:r>
            <a:endParaRPr lang="en-US" sz="1400" dirty="0"/>
          </a:p>
        </p:txBody>
      </p:sp>
      <p:sp>
        <p:nvSpPr>
          <p:cNvPr id="20" name="événement"/>
          <p:cNvSpPr/>
          <p:nvPr/>
        </p:nvSpPr>
        <p:spPr>
          <a:xfrm>
            <a:off x="6080760" y="512064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5532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Facture de sous-traitance</a:t>
            </a:r>
            <a:endParaRPr lang="en-US" sz="1400" dirty="0"/>
          </a:p>
        </p:txBody>
      </p:sp>
      <p:sp>
        <p:nvSpPr>
          <p:cNvPr id="22" name="événement"/>
          <p:cNvSpPr/>
          <p:nvPr/>
        </p:nvSpPr>
        <p:spPr>
          <a:xfrm>
            <a:off x="8366760" y="51206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0" y="5532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Début du contrat</a:t>
            </a:r>
            <a:endParaRPr lang="en-US" sz="1400" dirty="0"/>
          </a:p>
        </p:txBody>
      </p:sp>
      <p:sp>
        <p:nvSpPr>
          <p:cNvPr id="24" name="événement"/>
          <p:cNvSpPr/>
          <p:nvPr/>
        </p:nvSpPr>
        <p:spPr>
          <a:xfrm>
            <a:off x="10378440" y="51206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09760" y="5532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Heures déclarées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Axe 5 · Le graphe de cohérence cross-documents</a:t>
            </a:r>
            <a:endParaRPr lang="en-US" sz="3200" dirty="0"/>
          </a:p>
        </p:txBody>
      </p:sp>
      <p:sp>
        <p:nvSpPr>
          <p:cNvPr id="4" name="lien"/>
          <p:cNvSpPr/>
          <p:nvPr/>
        </p:nvSpPr>
        <p:spPr>
          <a:xfrm>
            <a:off x="1371600" y="2011680"/>
            <a:ext cx="2194560" cy="17373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5" name="lien"/>
          <p:cNvSpPr/>
          <p:nvPr/>
        </p:nvSpPr>
        <p:spPr>
          <a:xfrm>
            <a:off x="3566160" y="1828800"/>
            <a:ext cx="0" cy="19202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" name="lien"/>
          <p:cNvSpPr/>
          <p:nvPr/>
        </p:nvSpPr>
        <p:spPr>
          <a:xfrm flipV="1">
            <a:off x="3566160" y="2011680"/>
            <a:ext cx="2103120" cy="17373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lien"/>
          <p:cNvSpPr/>
          <p:nvPr/>
        </p:nvSpPr>
        <p:spPr>
          <a:xfrm>
            <a:off x="1280160" y="3749040"/>
            <a:ext cx="22860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lien"/>
          <p:cNvSpPr/>
          <p:nvPr/>
        </p:nvSpPr>
        <p:spPr>
          <a:xfrm>
            <a:off x="3566160" y="3749040"/>
            <a:ext cx="22860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lien"/>
          <p:cNvSpPr/>
          <p:nvPr/>
        </p:nvSpPr>
        <p:spPr>
          <a:xfrm flipV="1">
            <a:off x="1737360" y="3749040"/>
            <a:ext cx="1828800" cy="18288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0" name="lien"/>
          <p:cNvSpPr/>
          <p:nvPr/>
        </p:nvSpPr>
        <p:spPr>
          <a:xfrm>
            <a:off x="3566160" y="3749040"/>
            <a:ext cx="1828800" cy="18288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lien"/>
          <p:cNvSpPr/>
          <p:nvPr/>
        </p:nvSpPr>
        <p:spPr>
          <a:xfrm flipV="1">
            <a:off x="1371600" y="1828800"/>
            <a:ext cx="219456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2" name="lien"/>
          <p:cNvSpPr/>
          <p:nvPr/>
        </p:nvSpPr>
        <p:spPr>
          <a:xfrm>
            <a:off x="1737360" y="5577840"/>
            <a:ext cx="3657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lien"/>
          <p:cNvSpPr/>
          <p:nvPr/>
        </p:nvSpPr>
        <p:spPr>
          <a:xfrm>
            <a:off x="5669280" y="2011680"/>
            <a:ext cx="182880" cy="173736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6035040" y="2697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heures ≠ travaux décrits</a:t>
            </a:r>
            <a:endParaRPr lang="en-US" sz="1200" dirty="0"/>
          </a:p>
        </p:txBody>
      </p:sp>
      <p:sp>
        <p:nvSpPr>
          <p:cNvPr id="15" name="nœud Dossier CIR"/>
          <p:cNvSpPr/>
          <p:nvPr/>
        </p:nvSpPr>
        <p:spPr>
          <a:xfrm>
            <a:off x="2651760" y="3429000"/>
            <a:ext cx="1828800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5176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Dossier CIR</a:t>
            </a:r>
            <a:endParaRPr lang="en-US" sz="1300" dirty="0"/>
          </a:p>
        </p:txBody>
      </p:sp>
      <p:sp>
        <p:nvSpPr>
          <p:cNvPr id="17" name="nœud Salarié"/>
          <p:cNvSpPr/>
          <p:nvPr/>
        </p:nvSpPr>
        <p:spPr>
          <a:xfrm>
            <a:off x="502920" y="1760220"/>
            <a:ext cx="17373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17602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Salarié</a:t>
            </a:r>
            <a:endParaRPr lang="en-US" sz="1300" dirty="0"/>
          </a:p>
        </p:txBody>
      </p:sp>
      <p:sp>
        <p:nvSpPr>
          <p:cNvPr id="19" name="nœud Fiche de paie"/>
          <p:cNvSpPr/>
          <p:nvPr/>
        </p:nvSpPr>
        <p:spPr>
          <a:xfrm>
            <a:off x="2697480" y="1577340"/>
            <a:ext cx="17373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697480" y="15773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Fiche de paie</a:t>
            </a:r>
            <a:endParaRPr lang="en-US" sz="1300" dirty="0"/>
          </a:p>
        </p:txBody>
      </p:sp>
      <p:sp>
        <p:nvSpPr>
          <p:cNvPr id="21" name="nœud Feuille de temps"/>
          <p:cNvSpPr/>
          <p:nvPr/>
        </p:nvSpPr>
        <p:spPr>
          <a:xfrm>
            <a:off x="4800600" y="1760220"/>
            <a:ext cx="17373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00600" y="17602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Feuille de temps</a:t>
            </a:r>
            <a:endParaRPr lang="en-US" sz="1300" dirty="0"/>
          </a:p>
        </p:txBody>
      </p:sp>
      <p:sp>
        <p:nvSpPr>
          <p:cNvPr id="23" name="nœud CR réunion R&amp;D"/>
          <p:cNvSpPr/>
          <p:nvPr/>
        </p:nvSpPr>
        <p:spPr>
          <a:xfrm>
            <a:off x="411480" y="3497580"/>
            <a:ext cx="17373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1480" y="34975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CR réunion R&amp;D</a:t>
            </a:r>
            <a:endParaRPr lang="en-US" sz="1300" dirty="0"/>
          </a:p>
        </p:txBody>
      </p:sp>
      <p:sp>
        <p:nvSpPr>
          <p:cNvPr id="25" name="nœud Rapport technique"/>
          <p:cNvSpPr/>
          <p:nvPr/>
        </p:nvSpPr>
        <p:spPr>
          <a:xfrm>
            <a:off x="4983480" y="3497580"/>
            <a:ext cx="17373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83480" y="34975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Rapport technique</a:t>
            </a:r>
            <a:endParaRPr lang="en-US" sz="1300" dirty="0"/>
          </a:p>
        </p:txBody>
      </p:sp>
      <p:sp>
        <p:nvSpPr>
          <p:cNvPr id="27" name="nœud Contrat"/>
          <p:cNvSpPr/>
          <p:nvPr/>
        </p:nvSpPr>
        <p:spPr>
          <a:xfrm>
            <a:off x="868680" y="5326380"/>
            <a:ext cx="17373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8680" y="53263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Contrat</a:t>
            </a:r>
            <a:endParaRPr lang="en-US" sz="1300" dirty="0"/>
          </a:p>
        </p:txBody>
      </p:sp>
      <p:sp>
        <p:nvSpPr>
          <p:cNvPr id="29" name="nœud Facture"/>
          <p:cNvSpPr/>
          <p:nvPr/>
        </p:nvSpPr>
        <p:spPr>
          <a:xfrm>
            <a:off x="4526280" y="5326380"/>
            <a:ext cx="17373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26280" y="53263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Facture</a:t>
            </a:r>
            <a:endParaRPr lang="en-US" sz="1300" dirty="0"/>
          </a:p>
        </p:txBody>
      </p:sp>
      <p:sp>
        <p:nvSpPr>
          <p:cNvPr id="31" name="carte"/>
          <p:cNvSpPr/>
          <p:nvPr/>
        </p:nvSpPr>
        <p:spPr>
          <a:xfrm>
            <a:off x="7223760" y="1371600"/>
            <a:ext cx="443484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7360920" y="151790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0" descr="icô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55064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092440" y="1499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Contrôle financier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8092440" y="17922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Montants et heures vs justificatifs</a:t>
            </a:r>
            <a:endParaRPr lang="en-US" sz="1300" dirty="0"/>
          </a:p>
        </p:txBody>
      </p:sp>
      <p:sp>
        <p:nvSpPr>
          <p:cNvPr id="36" name="carte"/>
          <p:cNvSpPr/>
          <p:nvPr/>
        </p:nvSpPr>
        <p:spPr>
          <a:xfrm>
            <a:off x="7223760" y="2331720"/>
            <a:ext cx="443484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badge"/>
          <p:cNvSpPr/>
          <p:nvPr/>
        </p:nvSpPr>
        <p:spPr>
          <a:xfrm>
            <a:off x="7360920" y="247802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mage 1" descr="icô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615184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092440" y="2459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Contrôle de personnel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8092440" y="27523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Personnes déclarées vs pièces de participation</a:t>
            </a:r>
            <a:endParaRPr lang="en-US" sz="1300" dirty="0"/>
          </a:p>
        </p:txBody>
      </p:sp>
      <p:sp>
        <p:nvSpPr>
          <p:cNvPr id="41" name="carte"/>
          <p:cNvSpPr/>
          <p:nvPr/>
        </p:nvSpPr>
        <p:spPr>
          <a:xfrm>
            <a:off x="7223760" y="3291840"/>
            <a:ext cx="443484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badge"/>
          <p:cNvSpPr/>
          <p:nvPr/>
        </p:nvSpPr>
        <p:spPr>
          <a:xfrm>
            <a:off x="7360920" y="343814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3" name="Image 2" descr="icô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575304"/>
            <a:ext cx="274320" cy="274320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8092440" y="3419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Contrôle de traçabilité</a:t>
            </a:r>
            <a:endParaRPr lang="en-US" sz="1500" dirty="0"/>
          </a:p>
        </p:txBody>
      </p:sp>
      <p:sp>
        <p:nvSpPr>
          <p:cNvPr id="45" name="Text 39"/>
          <p:cNvSpPr txBox="1"/>
          <p:nvPr/>
        </p:nvSpPr>
        <p:spPr>
          <a:xfrm>
            <a:off x="8092440" y="3712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Rapports, réunions et périodes de travail</a:t>
            </a:r>
            <a:endParaRPr lang="en-US" sz="1300" dirty="0"/>
          </a:p>
        </p:txBody>
      </p:sp>
      <p:sp>
        <p:nvSpPr>
          <p:cNvPr id="46" name="carte"/>
          <p:cNvSpPr/>
          <p:nvPr/>
        </p:nvSpPr>
        <p:spPr>
          <a:xfrm>
            <a:off x="7223760" y="4251960"/>
            <a:ext cx="443484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badge"/>
          <p:cNvSpPr/>
          <p:nvPr/>
        </p:nvSpPr>
        <p:spPr>
          <a:xfrm>
            <a:off x="7360920" y="439826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8" name="Image 3" descr="icô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535424"/>
            <a:ext cx="274320" cy="274320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8092440" y="43799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Contrôle de sous-traitance</a:t>
            </a:r>
            <a:endParaRPr lang="en-US" sz="1500" dirty="0"/>
          </a:p>
        </p:txBody>
      </p:sp>
      <p:sp>
        <p:nvSpPr>
          <p:cNvPr id="50" name="Text 43"/>
          <p:cNvSpPr txBox="1"/>
          <p:nvPr/>
        </p:nvSpPr>
        <p:spPr>
          <a:xfrm>
            <a:off x="8092440" y="46725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Factures, contrats, prestations, agréments</a:t>
            </a:r>
            <a:endParaRPr lang="en-US" sz="1300" dirty="0"/>
          </a:p>
        </p:txBody>
      </p:sp>
      <p:sp>
        <p:nvSpPr>
          <p:cNvPr id="51" name="bandeau"/>
          <p:cNvSpPr/>
          <p:nvPr/>
        </p:nvSpPr>
        <p:spPr>
          <a:xfrm>
            <a:off x="7223760" y="5303520"/>
            <a:ext cx="443484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7406640" y="53035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Une fiche de paie juste et une feuille de temps plausible peuvent se contredire une fois reliées.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Axe 6 · Pré-audit IA et résolution proactive</a:t>
            </a:r>
            <a:endParaRPr lang="en-US" sz="3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2788920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Une IA contradictrice : 5 questions par dépense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Quelle pièce justifie cette information ?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Les autres documents concordent-ils ?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Existe-t-il une contradiction ?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Une preuve essentielle manque-t-elle ?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Quelle pièce lèverait le doute ?</a:t>
            </a:r>
            <a:endParaRPr lang="en-US" sz="1500" dirty="0"/>
          </a:p>
        </p:txBody>
      </p:sp>
      <p:sp>
        <p:nvSpPr>
          <p:cNvPr id="7" name="carte"/>
          <p:cNvSpPr/>
          <p:nvPr/>
        </p:nvSpPr>
        <p:spPr>
          <a:xfrm>
            <a:off x="548640" y="4343400"/>
            <a:ext cx="544068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Rapport de pré-audit explicable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892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Alertes classées par priorité, explications, documents sources et actions recommandées. Un outil d'aide à la décision : il ne remplace pas l'expertise fiscale.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Boucle de résolution</a:t>
            </a:r>
            <a:endParaRPr lang="en-US" sz="1700" dirty="0"/>
          </a:p>
        </p:txBody>
      </p:sp>
      <p:sp>
        <p:nvSpPr>
          <p:cNvPr id="11" name="étape"/>
          <p:cNvSpPr/>
          <p:nvPr/>
        </p:nvSpPr>
        <p:spPr>
          <a:xfrm>
            <a:off x="6263640" y="1783080"/>
            <a:ext cx="2468880" cy="82296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· Anomalie ou pièce manquante</a:t>
            </a:r>
            <a:endParaRPr lang="en-US" sz="1400" dirty="0"/>
          </a:p>
        </p:txBody>
      </p:sp>
      <p:sp>
        <p:nvSpPr>
          <p:cNvPr id="13" name="étape"/>
          <p:cNvSpPr/>
          <p:nvPr/>
        </p:nvSpPr>
        <p:spPr>
          <a:xfrm>
            <a:off x="9189720" y="1783080"/>
            <a:ext cx="246888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· Demande ciblée au client</a:t>
            </a:r>
            <a:endParaRPr lang="en-US" sz="1400" dirty="0"/>
          </a:p>
        </p:txBody>
      </p:sp>
      <p:sp>
        <p:nvSpPr>
          <p:cNvPr id="15" name="étape"/>
          <p:cNvSpPr/>
          <p:nvPr/>
        </p:nvSpPr>
        <p:spPr>
          <a:xfrm>
            <a:off x="6263640" y="2788920"/>
            <a:ext cx="246888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2788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· Nouveau document déposé</a:t>
            </a:r>
            <a:endParaRPr lang="en-US" sz="1400" dirty="0"/>
          </a:p>
        </p:txBody>
      </p:sp>
      <p:sp>
        <p:nvSpPr>
          <p:cNvPr id="17" name="étape"/>
          <p:cNvSpPr/>
          <p:nvPr/>
        </p:nvSpPr>
        <p:spPr>
          <a:xfrm>
            <a:off x="9189720" y="2788920"/>
            <a:ext cx="2468880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26880" y="2788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· Contrôles relancés, rapport mis à jour</a:t>
            </a:r>
            <a:endParaRPr lang="en-US" sz="1400" dirty="0"/>
          </a:p>
        </p:txBody>
      </p:sp>
      <p:sp>
        <p:nvSpPr>
          <p:cNvPr id="19" name="flèche"/>
          <p:cNvSpPr/>
          <p:nvPr/>
        </p:nvSpPr>
        <p:spPr>
          <a:xfrm>
            <a:off x="8778240" y="2011680"/>
            <a:ext cx="36576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flèche"/>
          <p:cNvSpPr/>
          <p:nvPr/>
        </p:nvSpPr>
        <p:spPr>
          <a:xfrm>
            <a:off x="8778240" y="3017520"/>
            <a:ext cx="36576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carte"/>
          <p:cNvSpPr/>
          <p:nvPr/>
        </p:nvSpPr>
        <p:spPr>
          <a:xfrm>
            <a:off x="6263640" y="3977640"/>
            <a:ext cx="53949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37960" y="4114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Message ciblé, pas « dossier incomplet »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4572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« La période de prestation de la facture ne concorde pas avec le contrat fourni. Merci de transmettre le contrat complémentaire ou tout justificatif établissant les dates effectives. 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Axe 7 · Tableau de bord et pilotage</a:t>
            </a:r>
            <a:endParaRPr lang="en-US" sz="3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Vue client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Pièces dues ce mois-ci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Documents validés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Pièces manquantes et date limite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Corrections nécessaires</a:t>
            </a:r>
            <a:endParaRPr lang="en-US" sz="1500" dirty="0"/>
          </a:p>
        </p:txBody>
      </p:sp>
      <p:sp>
        <p:nvSpPr>
          <p:cNvPr id="7" name="carte"/>
          <p:cNvSpPr/>
          <p:nvPr/>
        </p:nvSpPr>
        <p:spPr>
          <a:xfrm>
            <a:off x="6217920" y="1371600"/>
            <a:ext cx="544068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Vue consultant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9659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État du dossier et alertes prioritaires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Chronologie interactive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Relations entre les pièces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Justificatifs sources et historique des corrections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Indicateurs de performance</a:t>
            </a:r>
            <a:endParaRPr lang="en-US" sz="1800" dirty="0"/>
          </a:p>
        </p:txBody>
      </p:sp>
      <p:sp>
        <p:nvSpPr>
          <p:cNvPr id="11" name="carte"/>
          <p:cNvSpPr/>
          <p:nvPr/>
        </p:nvSpPr>
        <p:spPr>
          <a:xfrm>
            <a:off x="548640" y="4526280"/>
            <a:ext cx="16916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1115568" y="46634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0" descr="icô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48006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0080" y="53492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Délai moyen de collecte</a:t>
            </a:r>
            <a:endParaRPr lang="en-US" sz="1400" dirty="0"/>
          </a:p>
        </p:txBody>
      </p:sp>
      <p:sp>
        <p:nvSpPr>
          <p:cNvPr id="15" name="carte"/>
          <p:cNvSpPr/>
          <p:nvPr/>
        </p:nvSpPr>
        <p:spPr>
          <a:xfrm>
            <a:off x="2432304" y="4526280"/>
            <a:ext cx="16916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2999232" y="46634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1" descr="icô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48006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523744" y="53492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Temps de traitement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4315968" y="4526280"/>
            <a:ext cx="16916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4882896" y="46634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2" descr="icô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48006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07408" y="53492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Nombre de relances</a:t>
            </a:r>
            <a:endParaRPr lang="en-US" sz="1400" dirty="0"/>
          </a:p>
        </p:txBody>
      </p:sp>
      <p:sp>
        <p:nvSpPr>
          <p:cNvPr id="23" name="carte"/>
          <p:cNvSpPr/>
          <p:nvPr/>
        </p:nvSpPr>
        <p:spPr>
          <a:xfrm>
            <a:off x="6199632" y="4526280"/>
            <a:ext cx="16916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6766560" y="46634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3" descr="icô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8006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291072" y="53492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Taux de complétude</a:t>
            </a:r>
            <a:endParaRPr lang="en-US" sz="1400" dirty="0"/>
          </a:p>
        </p:txBody>
      </p:sp>
      <p:sp>
        <p:nvSpPr>
          <p:cNvPr id="27" name="carte"/>
          <p:cNvSpPr/>
          <p:nvPr/>
        </p:nvSpPr>
        <p:spPr>
          <a:xfrm>
            <a:off x="8083296" y="4526280"/>
            <a:ext cx="16916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adge"/>
          <p:cNvSpPr/>
          <p:nvPr/>
        </p:nvSpPr>
        <p:spPr>
          <a:xfrm>
            <a:off x="8650224" y="46634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mage 4" descr="icô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7384" y="480060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174736" y="53492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Anomalies détectées</a:t>
            </a:r>
            <a:endParaRPr lang="en-US" sz="1400" dirty="0"/>
          </a:p>
        </p:txBody>
      </p:sp>
      <p:sp>
        <p:nvSpPr>
          <p:cNvPr id="31" name="carte"/>
          <p:cNvSpPr/>
          <p:nvPr/>
        </p:nvSpPr>
        <p:spPr>
          <a:xfrm>
            <a:off x="9966960" y="4526280"/>
            <a:ext cx="16916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10533888" y="46634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Image 5" descr="icô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048" y="4800600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058400" y="53492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Alertes résolues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Validation combinée et garde-fous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Validation combinée : règles + inférence IA</a:t>
            </a:r>
            <a:endParaRPr lang="en-US" sz="1700" dirty="0"/>
          </a:p>
        </p:txBody>
      </p:sp>
      <p:sp>
        <p:nvSpPr>
          <p:cNvPr id="5" name="bloc"/>
          <p:cNvSpPr/>
          <p:nvPr/>
        </p:nvSpPr>
        <p:spPr>
          <a:xfrm>
            <a:off x="548640" y="1737360"/>
            <a:ext cx="3383280" cy="1234440"/>
          </a:xfrm>
          <a:prstGeom prst="roundRect">
            <a:avLst>
              <a:gd name="adj" fmla="val 740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Règles métier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Checklist par type de dossier</a:t>
            </a:r>
            <a:endParaRPr lang="en-US" sz="1400" dirty="0"/>
          </a:p>
        </p:txBody>
      </p:sp>
      <p:sp>
        <p:nvSpPr>
          <p:cNvPr id="8" name="flèche"/>
          <p:cNvSpPr/>
          <p:nvPr/>
        </p:nvSpPr>
        <p:spPr>
          <a:xfrm>
            <a:off x="4005072" y="2148840"/>
            <a:ext cx="320040" cy="4114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bloc"/>
          <p:cNvSpPr/>
          <p:nvPr/>
        </p:nvSpPr>
        <p:spPr>
          <a:xfrm>
            <a:off x="4389120" y="1737360"/>
            <a:ext cx="3383280" cy="123444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Inférence IA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Dates incohérentes, illisible, montant suspect</a:t>
            </a:r>
            <a:endParaRPr lang="en-US" sz="1400" dirty="0"/>
          </a:p>
        </p:txBody>
      </p:sp>
      <p:sp>
        <p:nvSpPr>
          <p:cNvPr id="12" name="flèche"/>
          <p:cNvSpPr/>
          <p:nvPr/>
        </p:nvSpPr>
        <p:spPr>
          <a:xfrm>
            <a:off x="7845552" y="2148840"/>
            <a:ext cx="320040" cy="4114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bloc"/>
          <p:cNvSpPr/>
          <p:nvPr/>
        </p:nvSpPr>
        <p:spPr>
          <a:xfrm>
            <a:off x="8229600" y="1737360"/>
            <a:ext cx="3383280" cy="1234440"/>
          </a:xfrm>
          <a:prstGeom prst="roundRect">
            <a:avLst>
              <a:gd name="adj" fmla="val 740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5820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Décision traçable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45820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Niveau de confiance + pièce source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3291840"/>
            <a:ext cx="2651760" cy="28803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77724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0" descr="icô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61188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4160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Traçabilité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5720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Confiance et source visibles pour chaque décision, sans boîte noire.</a:t>
            </a:r>
            <a:endParaRPr lang="en-US" sz="1400" dirty="0"/>
          </a:p>
        </p:txBody>
      </p:sp>
      <p:sp>
        <p:nvSpPr>
          <p:cNvPr id="21" name="carte"/>
          <p:cNvSpPr/>
          <p:nvPr/>
        </p:nvSpPr>
        <p:spPr>
          <a:xfrm>
            <a:off x="3367735" y="3291840"/>
            <a:ext cx="2651760" cy="28803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3596335" y="34747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1" descr="icô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495" y="361188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96335" y="4160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Pas de fausse certitude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3596335" y="45720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 anomalie n'est pas une falsification : le doute est expliqué et vérifié par un humain.</a:t>
            </a:r>
            <a:endParaRPr lang="en-US" sz="1400" dirty="0"/>
          </a:p>
        </p:txBody>
      </p:sp>
      <p:sp>
        <p:nvSpPr>
          <p:cNvPr id="26" name="carte"/>
          <p:cNvSpPr/>
          <p:nvPr/>
        </p:nvSpPr>
        <p:spPr>
          <a:xfrm>
            <a:off x="6186830" y="3291840"/>
            <a:ext cx="2651760" cy="28803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badge"/>
          <p:cNvSpPr/>
          <p:nvPr/>
        </p:nvSpPr>
        <p:spPr>
          <a:xfrm>
            <a:off x="641543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mage 2" descr="icô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90" y="361188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415430" y="4160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Confidentialité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6415430" y="45720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Données anonymisées ou synthétiques, à clarifier avec l'école avant le bootcamp.</a:t>
            </a:r>
            <a:endParaRPr lang="en-US" sz="1400" dirty="0"/>
          </a:p>
        </p:txBody>
      </p:sp>
      <p:sp>
        <p:nvSpPr>
          <p:cNvPr id="31" name="carte"/>
          <p:cNvSpPr/>
          <p:nvPr/>
        </p:nvSpPr>
        <p:spPr>
          <a:xfrm>
            <a:off x="9005926" y="3291840"/>
            <a:ext cx="2651760" cy="28803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9234526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3" descr="icô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1686" y="361188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234526" y="4160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Aide à la décision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9234526" y="45720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consultant décide ; aucune garantie d'acceptation par l'administration.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Prototype en 5 jours et mesure de la valeur</a:t>
            </a:r>
            <a:endParaRPr lang="en-US" sz="3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33832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icô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Upload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Dropzone + statut de complétude</a:t>
            </a:r>
            <a:endParaRPr lang="en-US" sz="1300" dirty="0"/>
          </a:p>
        </p:txBody>
      </p:sp>
      <p:sp>
        <p:nvSpPr>
          <p:cNvPr id="9" name="flèche"/>
          <p:cNvSpPr/>
          <p:nvPr/>
        </p:nvSpPr>
        <p:spPr>
          <a:xfrm>
            <a:off x="4005072" y="1783080"/>
            <a:ext cx="320040" cy="4114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carte"/>
          <p:cNvSpPr/>
          <p:nvPr/>
        </p:nvSpPr>
        <p:spPr>
          <a:xfrm>
            <a:off x="4389120" y="1371600"/>
            <a:ext cx="33832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"/>
          <p:cNvSpPr/>
          <p:nvPr/>
        </p:nvSpPr>
        <p:spPr>
          <a:xfrm>
            <a:off x="457200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icô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7145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Workflow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539496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Manquant / en attente / validé / rejeté</a:t>
            </a:r>
            <a:endParaRPr lang="en-US" sz="1300" dirty="0"/>
          </a:p>
        </p:txBody>
      </p:sp>
      <p:sp>
        <p:nvSpPr>
          <p:cNvPr id="15" name="flèche"/>
          <p:cNvSpPr/>
          <p:nvPr/>
        </p:nvSpPr>
        <p:spPr>
          <a:xfrm>
            <a:off x="7845552" y="1783080"/>
            <a:ext cx="320040" cy="4114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carte"/>
          <p:cNvSpPr/>
          <p:nvPr/>
        </p:nvSpPr>
        <p:spPr>
          <a:xfrm>
            <a:off x="8229600" y="1371600"/>
            <a:ext cx="33832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841248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icô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7145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3544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IA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923544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Classification, extraction, validation</a:t>
            </a:r>
            <a:endParaRPr lang="en-US" sz="1300" dirty="0"/>
          </a:p>
        </p:txBody>
      </p:sp>
      <p:sp>
        <p:nvSpPr>
          <p:cNvPr id="21" name="carte"/>
          <p:cNvSpPr/>
          <p:nvPr/>
        </p:nvSpPr>
        <p:spPr>
          <a:xfrm>
            <a:off x="548640" y="2743200"/>
            <a:ext cx="544068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2296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Dossier synthétique de test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32918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 fiche de paie et 1 feuille de temps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 comptes-rendus de réunion R&amp;D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 facture et 1 contrat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Anomalies introduites volontairement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Simulation du temps : « avancer au mois suivant » pour déclencher les notifications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 plateforme les détecte, les relie, les explique et propose les actions correctives.</a:t>
            </a:r>
            <a:endParaRPr lang="en-US" sz="1400" dirty="0"/>
          </a:p>
        </p:txBody>
      </p:sp>
      <p:sp>
        <p:nvSpPr>
          <p:cNvPr id="25" name="carte"/>
          <p:cNvSpPr/>
          <p:nvPr/>
        </p:nvSpPr>
        <p:spPr>
          <a:xfrm>
            <a:off x="6217920" y="2743200"/>
            <a:ext cx="544068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49224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Comment mesurer la valeur</a:t>
            </a:r>
            <a:endParaRPr lang="en-US" sz="1800" dirty="0"/>
          </a:p>
        </p:txBody>
      </p:sp>
      <p:sp>
        <p:nvSpPr>
          <p:cNvPr id="27" name="numéro"/>
          <p:cNvSpPr/>
          <p:nvPr/>
        </p:nvSpPr>
        <p:spPr>
          <a:xfrm>
            <a:off x="6492240" y="34107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9224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7040880" y="3383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Temps de traitement par dossier</a:t>
            </a:r>
            <a:endParaRPr lang="en-US" sz="1400" dirty="0"/>
          </a:p>
        </p:txBody>
      </p:sp>
      <p:sp>
        <p:nvSpPr>
          <p:cNvPr id="30" name="numéro"/>
          <p:cNvSpPr/>
          <p:nvPr/>
        </p:nvSpPr>
        <p:spPr>
          <a:xfrm>
            <a:off x="6492240" y="39593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49224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7040880" y="3931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Coût opérationnel par dossier</a:t>
            </a:r>
            <a:endParaRPr lang="en-US" sz="1400" dirty="0"/>
          </a:p>
        </p:txBody>
      </p:sp>
      <p:sp>
        <p:nvSpPr>
          <p:cNvPr id="33" name="numéro"/>
          <p:cNvSpPr/>
          <p:nvPr/>
        </p:nvSpPr>
        <p:spPr>
          <a:xfrm>
            <a:off x="6492240" y="450799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492240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7040880" y="4480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Qualité de détection et fausses alertes</a:t>
            </a:r>
            <a:endParaRPr lang="en-US" sz="1400" dirty="0"/>
          </a:p>
        </p:txBody>
      </p:sp>
      <p:sp>
        <p:nvSpPr>
          <p:cNvPr id="36" name="numéro"/>
          <p:cNvSpPr/>
          <p:nvPr/>
        </p:nvSpPr>
        <p:spPr>
          <a:xfrm>
            <a:off x="6492240" y="505663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492240" y="5056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7040880" y="5029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Traçabilité : alertes liées à une pièce et un passage</a:t>
            </a:r>
            <a:endParaRPr lang="en-US" sz="1400" dirty="0"/>
          </a:p>
        </p:txBody>
      </p:sp>
      <p:sp>
        <p:nvSpPr>
          <p:cNvPr id="39" name="numéro"/>
          <p:cNvSpPr/>
          <p:nvPr/>
        </p:nvSpPr>
        <p:spPr>
          <a:xfrm>
            <a:off x="6492240" y="560527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492240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7040880" y="5577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Résolution : délai pour clôturer les alertes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73152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Passer d'une plateforme qui collecte à une plateforme qui comprend, relie et éprouve les preuves</a:t>
            </a:r>
            <a:endParaRPr lang="en-US" sz="3600" dirty="0"/>
          </a:p>
        </p:txBody>
      </p:sp>
      <p:sp>
        <p:nvSpPr>
          <p:cNvPr id="4" name="carte"/>
          <p:cNvSpPr/>
          <p:nvPr/>
        </p:nvSpPr>
        <p:spPr>
          <a:xfrm>
            <a:off x="731520" y="2926080"/>
            <a:ext cx="342900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1005840" y="31546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icô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33147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0584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Fini les oublis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005840" y="4617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Notifications au fil des mois, relance ciblée des pièces manquantes, consultants libérés des tâches répétitives.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4389120" y="2926080"/>
            <a:ext cx="342900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4663440" y="31546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icô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33147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6344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 anomalies détectées plus tôt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663440" y="4617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Jumeau temporel et graphe de cohérence révèlent les contradictions avant la finalisation.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8046720" y="2926080"/>
            <a:ext cx="342900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badge"/>
          <p:cNvSpPr/>
          <p:nvPr/>
        </p:nvSpPr>
        <p:spPr>
          <a:xfrm>
            <a:off x="8321040" y="31546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icô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331470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2104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 consultant décide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4617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Alertes explicables, sources traçables, décision finale humaine.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yton Proof">
  <a:themeElements>
    <a:clrScheme name="Leyton Proof">
      <a:dk1>
        <a:srgbClr val="0B1F3A"/>
      </a:dk1>
      <a:lt1>
        <a:srgbClr val="FFFFFF"/>
      </a:lt1>
      <a:dk2>
        <a:srgbClr val="1B3358"/>
      </a:dk2>
      <a:lt2>
        <a:srgbClr val="EEF3F9"/>
      </a:lt2>
      <a:accent1>
        <a:srgbClr val="1F6FEB"/>
      </a:accent1>
      <a:accent2>
        <a:srgbClr val="F4A024"/>
      </a:accent2>
      <a:accent3>
        <a:srgbClr val="12A38A"/>
      </a:accent3>
      <a:accent4>
        <a:srgbClr val="D64545"/>
      </a:accent4>
      <a:accent5>
        <a:srgbClr val="6C7A92"/>
      </a:accent5>
      <a:accent6>
        <a:srgbClr val="7B61FF"/>
      </a:accent6>
      <a:hlink>
        <a:srgbClr val="1F6FEB"/>
      </a:hlink>
      <a:folHlink>
        <a:srgbClr val="6C7A92"/>
      </a:folHlink>
    </a:clrScheme>
    <a:fontScheme name="Leyton Proof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Leyton Proof Intelligence</dc:title>
  <dc:subject>PptxGenJS Presentation</dc:subject>
  <dc:creator>Projet Leyton</dc:creator>
  <cp:lastModifiedBy>Projet Leyton</cp:lastModifiedBy>
  <cp:revision>1</cp:revision>
  <dcterms:created xsi:type="dcterms:W3CDTF">2026-10-16T22:10:01Z</dcterms:created>
  <dcterms:modified xsi:type="dcterms:W3CDTF">2026-10-16T22:10:01Z</dcterms:modified>
</cp:coreProperties>
</file>